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62" r:id="rId9"/>
    <p:sldId id="264" r:id="rId10"/>
    <p:sldId id="265" r:id="rId11"/>
    <p:sldId id="270" r:id="rId12"/>
    <p:sldId id="266" r:id="rId13"/>
    <p:sldId id="267" r:id="rId14"/>
    <p:sldId id="271" r:id="rId15"/>
    <p:sldId id="268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71" autoAdjust="0"/>
    <p:restoredTop sz="96206" autoAdjust="0"/>
  </p:normalViewPr>
  <p:slideViewPr>
    <p:cSldViewPr snapToGrid="0">
      <p:cViewPr varScale="1">
        <p:scale>
          <a:sx n="103" d="100"/>
          <a:sy n="103" d="100"/>
        </p:scale>
        <p:origin x="72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A73168-C8F7-41F0-A7FB-BF7B03AD02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5290AD2-3D51-4EB3-AB56-6BDD6940E8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3327D3-F05C-4D26-B3EE-A71E0AF7B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94264-916F-4103-BBE2-FD227398927D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8B2F76-72FC-41E7-AAA1-8D74A88E2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6610E4-1337-4870-8F59-19528242A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08A06-DE80-4A37-BBF7-CD817F4311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5631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7E9E8D-81E4-48BF-85E5-6D6F523B2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4B7E46-BCAA-48A0-B9FF-E52ECB42E5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CE9AFA-DF0E-4758-B8C4-4C0B5EF88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94264-916F-4103-BBE2-FD227398927D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DB6173-41E9-4227-8E7E-EE675E29D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1B34BD-B644-443B-BCBA-49A0F093D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08A06-DE80-4A37-BBF7-CD817F4311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3395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303E43-4B93-42B7-8BF7-AB86B48AA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E82CB13-E0AB-4B02-B9DD-7F48C692FF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B2303D-086B-46E0-ADE4-F979CC520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94264-916F-4103-BBE2-FD227398927D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189269-FDF0-4984-AC49-4A400560A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920997-E0FB-492B-940C-A9AEB59B7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08A06-DE80-4A37-BBF7-CD817F4311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4769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885B8F-0C73-4148-8513-BB14F3536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65D6F0-9523-48CD-A3CD-6939F5D936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68D069D-F81D-4A54-9645-A47FD2502A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763CCD2-7EC9-4946-9465-8CBC9E1BE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94264-916F-4103-BBE2-FD227398927D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97B4BC4-3C90-41B9-B394-B04626A61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2A9B46D-F9EE-43F2-8B3E-6F26532FB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08A06-DE80-4A37-BBF7-CD817F4311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175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14565A-92E8-4FF0-A72F-58216FBC0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64AF9D2-260F-4847-9FF1-24EDBA317C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56D3806-5F8F-4B54-866A-301C081FD7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54FDA4D-FE20-4F8E-A4AE-23CE5F11E0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6C783DD-AD99-4AF7-A050-E340FBC443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2346FB1-BC82-4389-BD39-8C25D0747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94264-916F-4103-BBE2-FD227398927D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BFC8D8C-BD9A-45FB-9C02-B767E2A7E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6134BB9-17F7-4D42-AB80-4EA0B31EE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08A06-DE80-4A37-BBF7-CD817F4311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6239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A850C3-A255-47B7-BFD7-661B380C4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642782D-CC46-49E2-8795-52E862045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94264-916F-4103-BBE2-FD227398927D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9A60C2A-AF4E-4C4B-9044-EEA8FB726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A88F4BE-A287-46FC-873C-DE356CB9C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08A06-DE80-4A37-BBF7-CD817F4311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8020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2162198-B7AE-4D71-B3C8-4DEB97B03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94264-916F-4103-BBE2-FD227398927D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5532D3C-6D1A-4D1E-801A-EE5DFE199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ABA8BB-0DB1-4B0D-A35E-B1B303F6D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08A06-DE80-4A37-BBF7-CD817F4311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1032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526CF4-1D9A-4A0A-9F42-4F68A8D7D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DD83FF-B24C-4C32-B594-7F680F4F8A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70637BA-95B2-4F4D-95F5-8726B6487E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CD8BABB-D3C9-4311-9436-20A1E754C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94264-916F-4103-BBE2-FD227398927D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2767910-A13D-44A8-A4A4-AEB59CCB9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069B3CD-5793-408B-B48E-6DDB6C4E8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08A06-DE80-4A37-BBF7-CD817F4311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9889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0D4957-C2FB-4883-99FC-AD5266086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6E71E3C-3636-46E0-B2FF-593586AF03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BF8309C-8F12-44D4-926C-36BDBAE4DC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96B6C63-FF5D-4819-89AF-9E0BAA167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94264-916F-4103-BBE2-FD227398927D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2EC099B-A966-47A6-871E-B4E1F813C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480312C-AF60-49FA-8ECC-BB81A4EF5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08A06-DE80-4A37-BBF7-CD817F4311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6343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3E5277-1355-4E3F-B77C-1ABAEBC89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A49512A-A42D-4579-B020-5324EC8567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D353D2-0B52-4897-AB86-DA3EEE8DC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94264-916F-4103-BBE2-FD227398927D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E87B43-8990-4F13-814A-8CB123682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3DD343-CE0D-4B53-AD60-69AEBF0EA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08A06-DE80-4A37-BBF7-CD817F4311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7205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16685B9-312C-4035-B00C-4F307783A0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8DF1658-C66E-451D-A715-4374E61B20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2C306F-0A20-40C7-A5E6-156DE15C2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94264-916F-4103-BBE2-FD227398927D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659937-023A-4377-A864-9F37A7DC4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9EF0DF-7081-4B64-8915-F4508D46C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08A06-DE80-4A37-BBF7-CD817F4311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6454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7834721-47F2-4B23-B0D4-22DD95089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E48EDA6-E270-45B3-A370-5A66D4432C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9DDAB9-81A0-4CDA-9D98-D8F817045E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D94264-916F-4103-BBE2-FD227398927D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CFFED8-D08E-432A-8418-40B60F4A50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732C35B-5C9A-4C6C-AB8A-22C20E8CF4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408A06-DE80-4A37-BBF7-CD817F4311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0377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5F6224-B3DD-4139-8236-E2209C055F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GPT-2 </a:t>
            </a:r>
            <a:r>
              <a:rPr lang="ko-KR" altLang="en-US" dirty="0"/>
              <a:t>기반 다중 </a:t>
            </a:r>
            <a:r>
              <a:rPr lang="en-US" altLang="ko-KR" dirty="0"/>
              <a:t>task</a:t>
            </a:r>
            <a:r>
              <a:rPr lang="ko-KR" altLang="en-US" dirty="0"/>
              <a:t>처리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80102A0-CF11-4070-BEA4-7BD393A56B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47192" y="4419724"/>
            <a:ext cx="9144000" cy="1655762"/>
          </a:xfrm>
        </p:spPr>
        <p:txBody>
          <a:bodyPr>
            <a:normAutofit fontScale="92500"/>
          </a:bodyPr>
          <a:lstStyle/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                                                           </a:t>
            </a:r>
            <a:r>
              <a:rPr lang="ko-KR" altLang="en-US" sz="3900" dirty="0" err="1"/>
              <a:t>양호철</a:t>
            </a:r>
            <a:r>
              <a:rPr lang="en-US" altLang="ko-KR" sz="3900" dirty="0"/>
              <a:t>, </a:t>
            </a:r>
            <a:r>
              <a:rPr lang="ko-KR" altLang="en-US" sz="3900" dirty="0"/>
              <a:t>장준서</a:t>
            </a:r>
            <a:endParaRPr lang="en-US" altLang="ko-KR" sz="3900" dirty="0"/>
          </a:p>
        </p:txBody>
      </p:sp>
    </p:spTree>
    <p:extLst>
      <p:ext uri="{BB962C8B-B14F-4D97-AF65-F5344CB8AC3E}">
        <p14:creationId xmlns:p14="http://schemas.microsoft.com/office/powerpoint/2010/main" val="35654577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F994EC-4A01-48E2-A1B0-27865E247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26391A-4BCC-4746-BD0D-DEC6B84E3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5737" y="1789968"/>
            <a:ext cx="10515600" cy="4979621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Sentiment classification</a:t>
            </a:r>
          </a:p>
          <a:p>
            <a:endParaRPr lang="en-US" altLang="ko-KR" sz="3600" dirty="0"/>
          </a:p>
          <a:p>
            <a:endParaRPr lang="en-US" altLang="ko-KR" sz="3600" dirty="0"/>
          </a:p>
          <a:p>
            <a:r>
              <a:rPr lang="en-US" altLang="ko-KR" sz="3600" dirty="0"/>
              <a:t>Paraphrase detection</a:t>
            </a:r>
          </a:p>
          <a:p>
            <a:endParaRPr lang="en-US" altLang="ko-KR" sz="3600" dirty="0"/>
          </a:p>
          <a:p>
            <a:endParaRPr lang="en-US" altLang="ko-KR" sz="3600" dirty="0"/>
          </a:p>
          <a:p>
            <a:r>
              <a:rPr lang="en-US" altLang="ko-KR" sz="3600" dirty="0"/>
              <a:t>Sonnet generation</a:t>
            </a:r>
            <a:endParaRPr lang="ko-KR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829496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BF039F-2415-4E5D-9C3C-43076CDA5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Sentiment Classification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76ED8F-DA38-489C-ACB8-4B5A485481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223" y="1904756"/>
            <a:ext cx="4613031" cy="4351338"/>
          </a:xfrm>
        </p:spPr>
        <p:txBody>
          <a:bodyPr>
            <a:normAutofit/>
          </a:bodyPr>
          <a:lstStyle/>
          <a:p>
            <a:endParaRPr lang="en-US" altLang="ko-KR" sz="3200" dirty="0"/>
          </a:p>
          <a:p>
            <a:pPr marL="0" indent="0">
              <a:buNone/>
            </a:pPr>
            <a:r>
              <a:rPr lang="en-US" altLang="ko-KR" sz="3200" dirty="0"/>
              <a:t>What is data problem?</a:t>
            </a:r>
          </a:p>
          <a:p>
            <a:pPr marL="0" indent="0">
              <a:buNone/>
            </a:pPr>
            <a:r>
              <a:rPr lang="en-US" altLang="ko-KR" sz="3200" dirty="0"/>
              <a:t>-&gt; class </a:t>
            </a:r>
            <a:r>
              <a:rPr lang="en-US" altLang="ko-KR" sz="3200" dirty="0" err="1"/>
              <a:t>invalance</a:t>
            </a:r>
            <a:endParaRPr lang="en-US" altLang="ko-KR" sz="3200" dirty="0"/>
          </a:p>
          <a:p>
            <a:pPr marL="0" indent="0">
              <a:buNone/>
            </a:pPr>
            <a:endParaRPr lang="en-US" altLang="ko-KR" sz="3200" dirty="0"/>
          </a:p>
          <a:p>
            <a:pPr marL="0" indent="0">
              <a:buNone/>
            </a:pPr>
            <a:endParaRPr lang="en-US" altLang="ko-KR" sz="3200" dirty="0"/>
          </a:p>
          <a:p>
            <a:pPr>
              <a:buFont typeface="Symbol" panose="05050102010706020507" pitchFamily="18" charset="2"/>
              <a:buChar char="Þ"/>
            </a:pPr>
            <a:r>
              <a:rPr lang="en-US" altLang="ko-KR" sz="3200" dirty="0"/>
              <a:t>(sol) data </a:t>
            </a:r>
            <a:r>
              <a:rPr lang="en-US" altLang="ko-KR" sz="3200" dirty="0">
                <a:solidFill>
                  <a:srgbClr val="FF0000"/>
                </a:solidFill>
              </a:rPr>
              <a:t>rephrasing</a:t>
            </a:r>
            <a:endParaRPr lang="ko-KR" altLang="en-US" sz="3200" dirty="0">
              <a:solidFill>
                <a:srgbClr val="FF0000"/>
              </a:solidFill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3048250-CA2A-4960-901C-D5A5A7A07D98}"/>
              </a:ext>
            </a:extLst>
          </p:cNvPr>
          <p:cNvCxnSpPr>
            <a:cxnSpLocks/>
          </p:cNvCxnSpPr>
          <p:nvPr/>
        </p:nvCxnSpPr>
        <p:spPr>
          <a:xfrm>
            <a:off x="5486400" y="1733673"/>
            <a:ext cx="0" cy="45224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AEEA637-DA46-4007-ADA4-2B94053AEE19}"/>
              </a:ext>
            </a:extLst>
          </p:cNvPr>
          <p:cNvSpPr txBox="1"/>
          <p:nvPr/>
        </p:nvSpPr>
        <p:spPr>
          <a:xfrm>
            <a:off x="6096000" y="1904756"/>
            <a:ext cx="514056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3200" dirty="0"/>
          </a:p>
          <a:p>
            <a:r>
              <a:rPr lang="en-US" altLang="ko-KR" sz="3200" dirty="0"/>
              <a:t>What is model problem?</a:t>
            </a:r>
          </a:p>
          <a:p>
            <a:r>
              <a:rPr lang="en-US" altLang="ko-KR" sz="3200" dirty="0"/>
              <a:t>-&gt; multiclass classification</a:t>
            </a:r>
          </a:p>
          <a:p>
            <a:endParaRPr lang="en-US" altLang="ko-KR" sz="3200" dirty="0"/>
          </a:p>
          <a:p>
            <a:endParaRPr lang="en-US" altLang="ko-KR" sz="3200" dirty="0"/>
          </a:p>
          <a:p>
            <a:endParaRPr lang="en-US" altLang="ko-KR" sz="3200" dirty="0"/>
          </a:p>
          <a:p>
            <a:pPr>
              <a:buFont typeface="Symbol" panose="05050102010706020507" pitchFamily="18" charset="2"/>
              <a:buChar char="Þ"/>
            </a:pPr>
            <a:r>
              <a:rPr lang="en-US" altLang="ko-KR" sz="3200" dirty="0"/>
              <a:t>(sol) </a:t>
            </a:r>
            <a:r>
              <a:rPr lang="en-US" altLang="ko-KR" sz="3200" dirty="0">
                <a:solidFill>
                  <a:srgbClr val="FF0000"/>
                </a:solidFill>
              </a:rPr>
              <a:t>cascade</a:t>
            </a:r>
            <a:endParaRPr lang="ko-KR" alt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0372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C7D903-466F-4026-A247-1165F8BF2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rephrasing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0EE12392-E74E-4B19-86C8-09B39CA8EA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858" y="2297883"/>
            <a:ext cx="4542005" cy="2877696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71D7A1D-88CD-4A5B-BB02-77E3A58B4F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3137" y="2328715"/>
            <a:ext cx="4542005" cy="2846864"/>
          </a:xfrm>
          <a:prstGeom prst="rect">
            <a:avLst/>
          </a:prstGeom>
        </p:spPr>
      </p:pic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20B8A046-4555-451D-AA32-34C6D2AD2A9A}"/>
              </a:ext>
            </a:extLst>
          </p:cNvPr>
          <p:cNvSpPr/>
          <p:nvPr/>
        </p:nvSpPr>
        <p:spPr>
          <a:xfrm>
            <a:off x="5704743" y="3393831"/>
            <a:ext cx="782515" cy="5715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6196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C9DF09-F861-402F-9B80-D1358EAD0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Cascade (2</a:t>
            </a:r>
            <a:r>
              <a:rPr lang="ko-KR" altLang="en-US" dirty="0"/>
              <a:t>단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24A4D5-431E-4862-972B-22CA641540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5031"/>
            <a:ext cx="10515600" cy="4611932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371636C-3F48-4EA4-A53A-2073C2B8F9FC}"/>
              </a:ext>
            </a:extLst>
          </p:cNvPr>
          <p:cNvSpPr/>
          <p:nvPr/>
        </p:nvSpPr>
        <p:spPr>
          <a:xfrm>
            <a:off x="1424352" y="3147891"/>
            <a:ext cx="1608992" cy="8616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COARSE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8803FD2-E9D8-4945-9E04-831AE1C3C61E}"/>
              </a:ext>
            </a:extLst>
          </p:cNvPr>
          <p:cNvSpPr/>
          <p:nvPr/>
        </p:nvSpPr>
        <p:spPr>
          <a:xfrm>
            <a:off x="5121517" y="1758461"/>
            <a:ext cx="1538654" cy="8088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FINE 0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88535F6-B0D4-4A41-AC55-8A2C387AF9E8}"/>
              </a:ext>
            </a:extLst>
          </p:cNvPr>
          <p:cNvSpPr/>
          <p:nvPr/>
        </p:nvSpPr>
        <p:spPr>
          <a:xfrm>
            <a:off x="5121517" y="4657848"/>
            <a:ext cx="1538654" cy="8088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FINE 1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553D83-3A45-46B9-8963-F4AE113E105C}"/>
              </a:ext>
            </a:extLst>
          </p:cNvPr>
          <p:cNvSpPr txBox="1"/>
          <p:nvPr/>
        </p:nvSpPr>
        <p:spPr>
          <a:xfrm>
            <a:off x="1384785" y="4009537"/>
            <a:ext cx="16881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(0,1,2) | (3,4)</a:t>
            </a:r>
            <a:endParaRPr lang="ko-KR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216017-0E4C-41B4-8561-654B964820CE}"/>
              </a:ext>
            </a:extLst>
          </p:cNvPr>
          <p:cNvSpPr txBox="1"/>
          <p:nvPr/>
        </p:nvSpPr>
        <p:spPr>
          <a:xfrm>
            <a:off x="5051178" y="2567354"/>
            <a:ext cx="16089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FF0000"/>
                </a:solidFill>
              </a:rPr>
              <a:t>   </a:t>
            </a:r>
            <a:r>
              <a:rPr lang="en-US" altLang="ko-KR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 | 1 | 2</a:t>
            </a:r>
            <a:endParaRPr lang="ko-KR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320DF1-63A8-4724-8895-6B9103732F90}"/>
              </a:ext>
            </a:extLst>
          </p:cNvPr>
          <p:cNvSpPr txBox="1"/>
          <p:nvPr/>
        </p:nvSpPr>
        <p:spPr>
          <a:xfrm>
            <a:off x="5051178" y="5466741"/>
            <a:ext cx="16089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FF0000"/>
                </a:solidFill>
              </a:rPr>
              <a:t>      </a:t>
            </a:r>
            <a:r>
              <a:rPr lang="en-US" altLang="ko-KR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 | 4</a:t>
            </a:r>
            <a:endParaRPr lang="ko-KR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8182B08F-1C31-4D2D-8DFB-6708477D511B}"/>
              </a:ext>
            </a:extLst>
          </p:cNvPr>
          <p:cNvCxnSpPr/>
          <p:nvPr/>
        </p:nvCxnSpPr>
        <p:spPr>
          <a:xfrm flipV="1">
            <a:off x="3072910" y="2162907"/>
            <a:ext cx="1978268" cy="9849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D21C9865-6030-4F1E-B446-2200B9EFDDD2}"/>
              </a:ext>
            </a:extLst>
          </p:cNvPr>
          <p:cNvCxnSpPr/>
          <p:nvPr/>
        </p:nvCxnSpPr>
        <p:spPr>
          <a:xfrm>
            <a:off x="3072910" y="4009537"/>
            <a:ext cx="1978268" cy="10527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3832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C9DF09-F861-402F-9B80-D1358EAD0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Cascade (3</a:t>
            </a:r>
            <a:r>
              <a:rPr lang="ko-KR" altLang="en-US" dirty="0"/>
              <a:t>단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24A4D5-431E-4862-972B-22CA641540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8655"/>
            <a:ext cx="10515600" cy="4611932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371636C-3F48-4EA4-A53A-2073C2B8F9FC}"/>
              </a:ext>
            </a:extLst>
          </p:cNvPr>
          <p:cNvSpPr/>
          <p:nvPr/>
        </p:nvSpPr>
        <p:spPr>
          <a:xfrm>
            <a:off x="1424352" y="3147891"/>
            <a:ext cx="1608992" cy="8616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COARSE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8803FD2-E9D8-4945-9E04-831AE1C3C61E}"/>
              </a:ext>
            </a:extLst>
          </p:cNvPr>
          <p:cNvSpPr/>
          <p:nvPr/>
        </p:nvSpPr>
        <p:spPr>
          <a:xfrm>
            <a:off x="5121517" y="1758461"/>
            <a:ext cx="1538654" cy="8088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FINE 0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88535F6-B0D4-4A41-AC55-8A2C387AF9E8}"/>
              </a:ext>
            </a:extLst>
          </p:cNvPr>
          <p:cNvSpPr/>
          <p:nvPr/>
        </p:nvSpPr>
        <p:spPr>
          <a:xfrm>
            <a:off x="5121517" y="4657848"/>
            <a:ext cx="1538654" cy="8088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FINE 1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553D83-3A45-46B9-8963-F4AE113E105C}"/>
              </a:ext>
            </a:extLst>
          </p:cNvPr>
          <p:cNvSpPr txBox="1"/>
          <p:nvPr/>
        </p:nvSpPr>
        <p:spPr>
          <a:xfrm>
            <a:off x="1384785" y="4009537"/>
            <a:ext cx="16881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(0,1,2) | (3,4)</a:t>
            </a:r>
            <a:endParaRPr lang="ko-KR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216017-0E4C-41B4-8561-654B964820CE}"/>
              </a:ext>
            </a:extLst>
          </p:cNvPr>
          <p:cNvSpPr txBox="1"/>
          <p:nvPr/>
        </p:nvSpPr>
        <p:spPr>
          <a:xfrm>
            <a:off x="5018940" y="2585309"/>
            <a:ext cx="16089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FF0000"/>
                </a:solidFill>
              </a:rPr>
              <a:t>   </a:t>
            </a:r>
            <a:r>
              <a:rPr lang="en-US" altLang="ko-KR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(0 ,1) | 2</a:t>
            </a:r>
            <a:endParaRPr lang="ko-KR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320DF1-63A8-4724-8895-6B9103732F90}"/>
              </a:ext>
            </a:extLst>
          </p:cNvPr>
          <p:cNvSpPr txBox="1"/>
          <p:nvPr/>
        </p:nvSpPr>
        <p:spPr>
          <a:xfrm>
            <a:off x="5051178" y="5466741"/>
            <a:ext cx="16089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FF0000"/>
                </a:solidFill>
              </a:rPr>
              <a:t>      </a:t>
            </a:r>
            <a:r>
              <a:rPr lang="en-US" altLang="ko-KR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 | 4</a:t>
            </a:r>
            <a:endParaRPr lang="ko-KR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8182B08F-1C31-4D2D-8DFB-6708477D511B}"/>
              </a:ext>
            </a:extLst>
          </p:cNvPr>
          <p:cNvCxnSpPr/>
          <p:nvPr/>
        </p:nvCxnSpPr>
        <p:spPr>
          <a:xfrm flipV="1">
            <a:off x="3072910" y="2162907"/>
            <a:ext cx="1978268" cy="9849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D21C9865-6030-4F1E-B446-2200B9EFDDD2}"/>
              </a:ext>
            </a:extLst>
          </p:cNvPr>
          <p:cNvCxnSpPr/>
          <p:nvPr/>
        </p:nvCxnSpPr>
        <p:spPr>
          <a:xfrm>
            <a:off x="3072910" y="4009537"/>
            <a:ext cx="1978268" cy="10527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FAEF7A4-5A51-4C27-9466-C82DA3668C4C}"/>
              </a:ext>
            </a:extLst>
          </p:cNvPr>
          <p:cNvSpPr/>
          <p:nvPr/>
        </p:nvSpPr>
        <p:spPr>
          <a:xfrm>
            <a:off x="9334495" y="1767623"/>
            <a:ext cx="1538654" cy="8088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FINE</a:t>
            </a:r>
            <a:r>
              <a:rPr lang="ko-KR" altLang="en-US" dirty="0"/>
              <a:t> </a:t>
            </a:r>
            <a:r>
              <a:rPr lang="en-US" altLang="ko-KR" dirty="0"/>
              <a:t>2</a:t>
            </a:r>
            <a:endParaRPr lang="ko-KR" altLang="en-US" dirty="0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29948A28-2BFA-450A-9E1A-0CD003CC9E77}"/>
              </a:ext>
            </a:extLst>
          </p:cNvPr>
          <p:cNvCxnSpPr/>
          <p:nvPr/>
        </p:nvCxnSpPr>
        <p:spPr>
          <a:xfrm>
            <a:off x="6875585" y="2162907"/>
            <a:ext cx="23035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8F81C27-D96F-4DBC-991C-0BF5DA892A47}"/>
              </a:ext>
            </a:extLst>
          </p:cNvPr>
          <p:cNvSpPr txBox="1"/>
          <p:nvPr/>
        </p:nvSpPr>
        <p:spPr>
          <a:xfrm>
            <a:off x="9504481" y="2576516"/>
            <a:ext cx="16089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FF0000"/>
                </a:solidFill>
              </a:rPr>
              <a:t>   </a:t>
            </a:r>
            <a:r>
              <a:rPr lang="en-US" altLang="ko-KR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 | 1</a:t>
            </a:r>
            <a:endParaRPr lang="ko-KR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26081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09FAC1A0-9774-4CC4-BA02-16CD45A316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8206670"/>
              </p:ext>
            </p:extLst>
          </p:nvPr>
        </p:nvGraphicFramePr>
        <p:xfrm>
          <a:off x="555976" y="1987420"/>
          <a:ext cx="4818455" cy="3223215"/>
        </p:xfrm>
        <a:graphic>
          <a:graphicData uri="http://schemas.openxmlformats.org/drawingml/2006/table">
            <a:tbl>
              <a:tblPr/>
              <a:tblGrid>
                <a:gridCol w="963691">
                  <a:extLst>
                    <a:ext uri="{9D8B030D-6E8A-4147-A177-3AD203B41FA5}">
                      <a16:colId xmlns:a16="http://schemas.microsoft.com/office/drawing/2014/main" val="471921653"/>
                    </a:ext>
                  </a:extLst>
                </a:gridCol>
                <a:gridCol w="963691">
                  <a:extLst>
                    <a:ext uri="{9D8B030D-6E8A-4147-A177-3AD203B41FA5}">
                      <a16:colId xmlns:a16="http://schemas.microsoft.com/office/drawing/2014/main" val="3865838654"/>
                    </a:ext>
                  </a:extLst>
                </a:gridCol>
                <a:gridCol w="963691">
                  <a:extLst>
                    <a:ext uri="{9D8B030D-6E8A-4147-A177-3AD203B41FA5}">
                      <a16:colId xmlns:a16="http://schemas.microsoft.com/office/drawing/2014/main" val="2206763480"/>
                    </a:ext>
                  </a:extLst>
                </a:gridCol>
                <a:gridCol w="963691">
                  <a:extLst>
                    <a:ext uri="{9D8B030D-6E8A-4147-A177-3AD203B41FA5}">
                      <a16:colId xmlns:a16="http://schemas.microsoft.com/office/drawing/2014/main" val="1107296690"/>
                    </a:ext>
                  </a:extLst>
                </a:gridCol>
                <a:gridCol w="963691">
                  <a:extLst>
                    <a:ext uri="{9D8B030D-6E8A-4147-A177-3AD203B41FA5}">
                      <a16:colId xmlns:a16="http://schemas.microsoft.com/office/drawing/2014/main" val="2521776805"/>
                    </a:ext>
                  </a:extLst>
                </a:gridCol>
              </a:tblGrid>
              <a:tr h="419571">
                <a:tc row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모델 구조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SST 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CFIMDB 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3587062"/>
                  </a:ext>
                </a:extLst>
              </a:tr>
              <a:tr h="5611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Dev Accuracy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Dev F1-score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Dev Accuracy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Dev F1-score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0065817"/>
                  </a:ext>
                </a:extLst>
              </a:tr>
              <a:tr h="840671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rephrasing X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(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단일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)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0.4614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0.4108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0.9429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0.9428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3939079"/>
                  </a:ext>
                </a:extLst>
              </a:tr>
              <a:tr h="840671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rephrasing O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(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단일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)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0.4514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0.4403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0.9551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0.9551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1663931"/>
                  </a:ext>
                </a:extLst>
              </a:tr>
              <a:tr h="561151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Joint-Cascade (2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단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)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0.44142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0.42358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-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-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8023377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33F98F59-14D9-47D7-9031-C87CD837EC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1817" y="880363"/>
            <a:ext cx="389715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1-1. Sentiment Classification          </a:t>
            </a:r>
            <a:r>
              <a:rPr lang="ko-KR" altLang="en-US" b="1" dirty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             </a:t>
            </a: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(</a:t>
            </a:r>
            <a:r>
              <a:rPr kumimoji="0" lang="ko-KR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단일 모델 </a:t>
            </a: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vs Cascade </a:t>
            </a:r>
            <a:r>
              <a:rPr kumimoji="0" lang="ko-KR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모델</a:t>
            </a: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)</a:t>
            </a:r>
            <a:endParaRPr kumimoji="0" lang="en-US" altLang="ko-KR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8F0F03E-1440-4EDC-9553-8689071A0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6009" y="880363"/>
            <a:ext cx="355738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atinLnBrk="0"/>
            <a:r>
              <a:rPr lang="en-US" altLang="ko-KR" b="1" dirty="0"/>
              <a:t>1-2. Sentiment Classification </a:t>
            </a:r>
          </a:p>
          <a:p>
            <a:pPr latinLnBrk="0"/>
            <a:r>
              <a:rPr lang="en-US" altLang="ko-KR" b="1" dirty="0"/>
              <a:t>       (Cascade </a:t>
            </a:r>
            <a:r>
              <a:rPr lang="ko-KR" altLang="en-US" b="1" dirty="0"/>
              <a:t>모델</a:t>
            </a:r>
            <a:r>
              <a:rPr lang="en-US" altLang="ko-KR" b="1" dirty="0"/>
              <a:t>_2</a:t>
            </a:r>
            <a:r>
              <a:rPr lang="ko-KR" altLang="en-US" b="1" dirty="0"/>
              <a:t>단 </a:t>
            </a:r>
            <a:r>
              <a:rPr lang="en-US" altLang="ko-KR" b="1" dirty="0"/>
              <a:t>vs 3</a:t>
            </a:r>
            <a:r>
              <a:rPr lang="ko-KR" altLang="en-US" b="1" dirty="0"/>
              <a:t>단</a:t>
            </a:r>
            <a:r>
              <a:rPr lang="en-US" altLang="ko-KR" b="1" dirty="0"/>
              <a:t>)</a:t>
            </a:r>
            <a:endParaRPr lang="ko-KR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F4E9CF60-FB0B-43BD-9E53-E82BBA24FC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3082554"/>
              </p:ext>
            </p:extLst>
          </p:nvPr>
        </p:nvGraphicFramePr>
        <p:xfrm>
          <a:off x="6546009" y="1987420"/>
          <a:ext cx="5090014" cy="3223212"/>
        </p:xfrm>
        <a:graphic>
          <a:graphicData uri="http://schemas.openxmlformats.org/drawingml/2006/table">
            <a:tbl>
              <a:tblPr/>
              <a:tblGrid>
                <a:gridCol w="1204689">
                  <a:extLst>
                    <a:ext uri="{9D8B030D-6E8A-4147-A177-3AD203B41FA5}">
                      <a16:colId xmlns:a16="http://schemas.microsoft.com/office/drawing/2014/main" val="1037052062"/>
                    </a:ext>
                  </a:extLst>
                </a:gridCol>
                <a:gridCol w="1204689">
                  <a:extLst>
                    <a:ext uri="{9D8B030D-6E8A-4147-A177-3AD203B41FA5}">
                      <a16:colId xmlns:a16="http://schemas.microsoft.com/office/drawing/2014/main" val="2952030249"/>
                    </a:ext>
                  </a:extLst>
                </a:gridCol>
                <a:gridCol w="1340318">
                  <a:extLst>
                    <a:ext uri="{9D8B030D-6E8A-4147-A177-3AD203B41FA5}">
                      <a16:colId xmlns:a16="http://schemas.microsoft.com/office/drawing/2014/main" val="2494437145"/>
                    </a:ext>
                  </a:extLst>
                </a:gridCol>
                <a:gridCol w="1340318">
                  <a:extLst>
                    <a:ext uri="{9D8B030D-6E8A-4147-A177-3AD203B41FA5}">
                      <a16:colId xmlns:a16="http://schemas.microsoft.com/office/drawing/2014/main" val="2542752929"/>
                    </a:ext>
                  </a:extLst>
                </a:gridCol>
              </a:tblGrid>
              <a:tr h="537202">
                <a:tc row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epoch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모델 구조 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SST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8131390"/>
                  </a:ext>
                </a:extLst>
              </a:tr>
              <a:tr h="53720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Dev Accuracy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Dev F1-score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0424491"/>
                  </a:ext>
                </a:extLst>
              </a:tr>
              <a:tr h="537202">
                <a:tc rowSpan="2"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30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2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단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0.44142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0.42358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6537227"/>
                  </a:ext>
                </a:extLst>
              </a:tr>
              <a:tr h="53720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3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단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0.41871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0.41813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9992029"/>
                  </a:ext>
                </a:extLst>
              </a:tr>
              <a:tr h="537202">
                <a:tc rowSpan="2"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50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2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단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0.42325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0.40681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8016447"/>
                  </a:ext>
                </a:extLst>
              </a:tr>
              <a:tr h="53720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3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단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0.42598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0.40769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6459093"/>
                  </a:ext>
                </a:extLst>
              </a:tr>
            </a:tbl>
          </a:graphicData>
        </a:graphic>
      </p:graphicFrame>
      <p:sp>
        <p:nvSpPr>
          <p:cNvPr id="9" name="Rectangle 3">
            <a:extLst>
              <a:ext uri="{FF2B5EF4-FFF2-40B4-BE49-F238E27FC236}">
                <a16:creationId xmlns:a16="http://schemas.microsoft.com/office/drawing/2014/main" id="{300F0B18-19BA-4FD5-BD53-921B8701A1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5204" y="2665809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8670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BF039F-2415-4E5D-9C3C-43076CDA5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Paraphrase Detection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76ED8F-DA38-489C-ACB8-4B5A485481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223" y="1904756"/>
            <a:ext cx="4613031" cy="4351338"/>
          </a:xfrm>
        </p:spPr>
        <p:txBody>
          <a:bodyPr>
            <a:normAutofit/>
          </a:bodyPr>
          <a:lstStyle/>
          <a:p>
            <a:endParaRPr lang="en-US" altLang="ko-KR" sz="3200" dirty="0"/>
          </a:p>
          <a:p>
            <a:pPr marL="0" indent="0">
              <a:buNone/>
            </a:pPr>
            <a:r>
              <a:rPr lang="en-US" altLang="ko-KR" sz="3200" dirty="0"/>
              <a:t>What is data problem?</a:t>
            </a:r>
          </a:p>
          <a:p>
            <a:pPr marL="0" indent="0">
              <a:buNone/>
            </a:pPr>
            <a:r>
              <a:rPr lang="en-US" altLang="ko-KR" sz="3200" dirty="0"/>
              <a:t>-&gt; too much data</a:t>
            </a:r>
          </a:p>
          <a:p>
            <a:pPr marL="0" indent="0">
              <a:buNone/>
            </a:pPr>
            <a:endParaRPr lang="en-US" altLang="ko-KR" sz="3200" dirty="0"/>
          </a:p>
          <a:p>
            <a:pPr marL="0" indent="0">
              <a:buNone/>
            </a:pPr>
            <a:endParaRPr lang="en-US" altLang="ko-KR" sz="3200" dirty="0"/>
          </a:p>
          <a:p>
            <a:pPr>
              <a:buFont typeface="Symbol" panose="05050102010706020507" pitchFamily="18" charset="2"/>
              <a:buChar char="Þ"/>
            </a:pPr>
            <a:r>
              <a:rPr lang="en-US" altLang="ko-KR" sz="3200" dirty="0"/>
              <a:t>(sol) </a:t>
            </a:r>
            <a:r>
              <a:rPr lang="en-US" altLang="ko-KR" sz="3200" dirty="0" err="1">
                <a:solidFill>
                  <a:srgbClr val="FF0000"/>
                </a:solidFill>
              </a:rPr>
              <a:t>LoRA</a:t>
            </a:r>
            <a:endParaRPr lang="ko-KR" altLang="en-US" sz="3200" dirty="0">
              <a:solidFill>
                <a:srgbClr val="FF0000"/>
              </a:solidFill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3048250-CA2A-4960-901C-D5A5A7A07D98}"/>
              </a:ext>
            </a:extLst>
          </p:cNvPr>
          <p:cNvCxnSpPr>
            <a:cxnSpLocks/>
          </p:cNvCxnSpPr>
          <p:nvPr/>
        </p:nvCxnSpPr>
        <p:spPr>
          <a:xfrm>
            <a:off x="5486400" y="1733673"/>
            <a:ext cx="0" cy="45224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D21BF80-C373-40B8-9629-A0F884E43D82}"/>
              </a:ext>
            </a:extLst>
          </p:cNvPr>
          <p:cNvSpPr txBox="1"/>
          <p:nvPr/>
        </p:nvSpPr>
        <p:spPr>
          <a:xfrm>
            <a:off x="6213239" y="1904756"/>
            <a:ext cx="514056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3200" dirty="0"/>
          </a:p>
          <a:p>
            <a:r>
              <a:rPr lang="en-US" altLang="ko-KR" sz="3200" dirty="0"/>
              <a:t>What is key</a:t>
            </a:r>
            <a:r>
              <a:rPr lang="ko-KR" altLang="en-US" sz="3200" dirty="0"/>
              <a:t> </a:t>
            </a:r>
            <a:r>
              <a:rPr lang="en-US" altLang="ko-KR" sz="3200" dirty="0"/>
              <a:t>idea</a:t>
            </a:r>
          </a:p>
          <a:p>
            <a:r>
              <a:rPr lang="en-US" altLang="ko-KR" sz="3200" dirty="0"/>
              <a:t>        for</a:t>
            </a:r>
            <a:r>
              <a:rPr lang="ko-KR" altLang="en-US" sz="3200" dirty="0"/>
              <a:t> </a:t>
            </a:r>
            <a:r>
              <a:rPr lang="en-US" altLang="ko-KR" sz="3200" dirty="0"/>
              <a:t>performance?</a:t>
            </a:r>
          </a:p>
          <a:p>
            <a:endParaRPr lang="en-US" altLang="ko-KR" sz="3200" dirty="0"/>
          </a:p>
          <a:p>
            <a:endParaRPr lang="en-US" altLang="ko-KR" sz="3200" dirty="0"/>
          </a:p>
          <a:p>
            <a:endParaRPr lang="en-US" altLang="ko-KR" sz="3200" dirty="0"/>
          </a:p>
          <a:p>
            <a:pPr>
              <a:buFont typeface="Symbol" panose="05050102010706020507" pitchFamily="18" charset="2"/>
              <a:buChar char="Þ"/>
            </a:pPr>
            <a:r>
              <a:rPr lang="en-US" altLang="ko-KR" sz="3200" dirty="0"/>
              <a:t> </a:t>
            </a:r>
            <a:r>
              <a:rPr lang="en-US" altLang="ko-KR" sz="3200" dirty="0">
                <a:solidFill>
                  <a:srgbClr val="FF0000"/>
                </a:solidFill>
              </a:rPr>
              <a:t>Hard Negative Priority</a:t>
            </a:r>
            <a:endParaRPr lang="ko-KR" alt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49390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C7D903-466F-4026-A247-1165F8BF2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LoRA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9C062A7-74D1-400B-92EA-79210D58F9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3455" y="1559421"/>
            <a:ext cx="4926522" cy="4222734"/>
          </a:xfrm>
          <a:prstGeom prst="rect">
            <a:avLst/>
          </a:prstGeom>
        </p:spPr>
      </p:pic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9445B705-D9C3-481F-B5B7-8F5C3E54455F}"/>
              </a:ext>
            </a:extLst>
          </p:cNvPr>
          <p:cNvSpPr/>
          <p:nvPr/>
        </p:nvSpPr>
        <p:spPr>
          <a:xfrm>
            <a:off x="6369977" y="3360920"/>
            <a:ext cx="773723" cy="48357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012A48-52C2-45CC-B330-C6A009269F2F}"/>
              </a:ext>
            </a:extLst>
          </p:cNvPr>
          <p:cNvSpPr txBox="1"/>
          <p:nvPr/>
        </p:nvSpPr>
        <p:spPr>
          <a:xfrm>
            <a:off x="7639758" y="3187209"/>
            <a:ext cx="32802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 err="1">
                <a:solidFill>
                  <a:srgbClr val="FF0000"/>
                </a:solidFill>
              </a:rPr>
              <a:t>Wx</a:t>
            </a:r>
            <a:r>
              <a:rPr lang="en-US" altLang="ko-KR" sz="4800" dirty="0">
                <a:solidFill>
                  <a:srgbClr val="FF0000"/>
                </a:solidFill>
              </a:rPr>
              <a:t> + A(Bx)</a:t>
            </a:r>
            <a:endParaRPr lang="ko-KR" altLang="en-US" sz="4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99272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C7D903-466F-4026-A247-1165F8BF2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Hard Negative Priority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962B8EE-AB62-4201-BFEA-34E6AF0289D9}"/>
              </a:ext>
            </a:extLst>
          </p:cNvPr>
          <p:cNvSpPr/>
          <p:nvPr/>
        </p:nvSpPr>
        <p:spPr>
          <a:xfrm>
            <a:off x="838201" y="1878360"/>
            <a:ext cx="3109546" cy="18232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/>
              <a:t>5 epoch</a:t>
            </a:r>
            <a:endParaRPr lang="ko-KR" altLang="en-US" sz="3200" dirty="0"/>
          </a:p>
        </p:txBody>
      </p:sp>
      <p:sp>
        <p:nvSpPr>
          <p:cNvPr id="6" name="더하기 기호 5">
            <a:extLst>
              <a:ext uri="{FF2B5EF4-FFF2-40B4-BE49-F238E27FC236}">
                <a16:creationId xmlns:a16="http://schemas.microsoft.com/office/drawing/2014/main" id="{CD2840D2-0A28-4F08-9A5F-044B37E31126}"/>
              </a:ext>
            </a:extLst>
          </p:cNvPr>
          <p:cNvSpPr/>
          <p:nvPr/>
        </p:nvSpPr>
        <p:spPr>
          <a:xfrm>
            <a:off x="4592518" y="2507090"/>
            <a:ext cx="1011115" cy="975946"/>
          </a:xfrm>
          <a:prstGeom prst="mathPlus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185233D-4142-4D96-A0BE-487B01488812}"/>
              </a:ext>
            </a:extLst>
          </p:cNvPr>
          <p:cNvSpPr/>
          <p:nvPr/>
        </p:nvSpPr>
        <p:spPr>
          <a:xfrm>
            <a:off x="6096000" y="1926637"/>
            <a:ext cx="3109546" cy="18232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/>
              <a:t>1 epoch</a:t>
            </a:r>
            <a:endParaRPr lang="ko-KR" altLang="en-US" sz="3200" dirty="0"/>
          </a:p>
        </p:txBody>
      </p:sp>
      <p:sp>
        <p:nvSpPr>
          <p:cNvPr id="17" name="화살표: 위로 구부러짐 16">
            <a:extLst>
              <a:ext uri="{FF2B5EF4-FFF2-40B4-BE49-F238E27FC236}">
                <a16:creationId xmlns:a16="http://schemas.microsoft.com/office/drawing/2014/main" id="{1004695A-F8D9-49B4-86E9-512164889659}"/>
              </a:ext>
            </a:extLst>
          </p:cNvPr>
          <p:cNvSpPr/>
          <p:nvPr/>
        </p:nvSpPr>
        <p:spPr>
          <a:xfrm>
            <a:off x="2189287" y="3765152"/>
            <a:ext cx="4308229" cy="589085"/>
          </a:xfrm>
          <a:prstGeom prst="curvedUp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E0C920-9B40-4573-8851-EA631BB5EB54}"/>
              </a:ext>
            </a:extLst>
          </p:cNvPr>
          <p:cNvSpPr txBox="1"/>
          <p:nvPr/>
        </p:nvSpPr>
        <p:spPr>
          <a:xfrm>
            <a:off x="696057" y="4958637"/>
            <a:ext cx="1079988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sz="4000" dirty="0"/>
              <a:t>Model: </a:t>
            </a:r>
            <a:r>
              <a:rPr lang="en-US" altLang="ko-KR" sz="4000" dirty="0">
                <a:solidFill>
                  <a:srgbClr val="FF0000"/>
                </a:solidFill>
              </a:rPr>
              <a:t>best</a:t>
            </a:r>
            <a:r>
              <a:rPr lang="ko-KR" altLang="en-US" sz="4000" dirty="0">
                <a:solidFill>
                  <a:srgbClr val="FF0000"/>
                </a:solidFill>
              </a:rPr>
              <a:t>모델</a:t>
            </a:r>
            <a:r>
              <a:rPr lang="ko-KR" altLang="en-US" sz="4000" dirty="0"/>
              <a:t> </a:t>
            </a:r>
            <a:r>
              <a:rPr lang="en-US" altLang="ko-KR" sz="4000" dirty="0"/>
              <a:t>load</a:t>
            </a:r>
          </a:p>
          <a:p>
            <a:pPr marL="285750" indent="-285750">
              <a:buFontTx/>
              <a:buChar char="-"/>
            </a:pPr>
            <a:r>
              <a:rPr lang="en-US" altLang="ko-KR" sz="4000" dirty="0"/>
              <a:t>Data: </a:t>
            </a:r>
            <a:r>
              <a:rPr lang="ko-KR" altLang="en-US" sz="4000" dirty="0">
                <a:solidFill>
                  <a:srgbClr val="FF0000"/>
                </a:solidFill>
              </a:rPr>
              <a:t>틀렸지만 </a:t>
            </a:r>
            <a:r>
              <a:rPr lang="en-US" altLang="ko-KR" sz="4000" dirty="0">
                <a:solidFill>
                  <a:srgbClr val="FF0000"/>
                </a:solidFill>
              </a:rPr>
              <a:t>confidence</a:t>
            </a:r>
            <a:r>
              <a:rPr lang="ko-KR" altLang="en-US" sz="4000" dirty="0">
                <a:solidFill>
                  <a:srgbClr val="FF0000"/>
                </a:solidFill>
              </a:rPr>
              <a:t>는 높은 </a:t>
            </a:r>
            <a:r>
              <a:rPr lang="ko-KR" altLang="en-US" sz="4000" dirty="0"/>
              <a:t>데이터</a:t>
            </a:r>
          </a:p>
        </p:txBody>
      </p:sp>
    </p:spTree>
    <p:extLst>
      <p:ext uri="{BB962C8B-B14F-4D97-AF65-F5344CB8AC3E}">
        <p14:creationId xmlns:p14="http://schemas.microsoft.com/office/powerpoint/2010/main" val="3158786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내용 개체 틀 4">
            <a:extLst>
              <a:ext uri="{FF2B5EF4-FFF2-40B4-BE49-F238E27FC236}">
                <a16:creationId xmlns:a16="http://schemas.microsoft.com/office/drawing/2014/main" id="{F3DE8AEF-2AFB-4729-9CB3-73F8A4AD02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3258504"/>
              </p:ext>
            </p:extLst>
          </p:nvPr>
        </p:nvGraphicFramePr>
        <p:xfrm>
          <a:off x="1799253" y="947056"/>
          <a:ext cx="8276253" cy="4963888"/>
        </p:xfrm>
        <a:graphic>
          <a:graphicData uri="http://schemas.openxmlformats.org/drawingml/2006/table">
            <a:tbl>
              <a:tblPr/>
              <a:tblGrid>
                <a:gridCol w="2758751">
                  <a:extLst>
                    <a:ext uri="{9D8B030D-6E8A-4147-A177-3AD203B41FA5}">
                      <a16:colId xmlns:a16="http://schemas.microsoft.com/office/drawing/2014/main" val="1622937224"/>
                    </a:ext>
                  </a:extLst>
                </a:gridCol>
                <a:gridCol w="2758751">
                  <a:extLst>
                    <a:ext uri="{9D8B030D-6E8A-4147-A177-3AD203B41FA5}">
                      <a16:colId xmlns:a16="http://schemas.microsoft.com/office/drawing/2014/main" val="2096931619"/>
                    </a:ext>
                  </a:extLst>
                </a:gridCol>
                <a:gridCol w="2758751">
                  <a:extLst>
                    <a:ext uri="{9D8B030D-6E8A-4147-A177-3AD203B41FA5}">
                      <a16:colId xmlns:a16="http://schemas.microsoft.com/office/drawing/2014/main" val="2108054142"/>
                    </a:ext>
                  </a:extLst>
                </a:gridCol>
              </a:tblGrid>
              <a:tr h="1240972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모델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Dev Accuracy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F1-score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6561483"/>
                  </a:ext>
                </a:extLst>
              </a:tr>
              <a:tr h="1240972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GPT-2 (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기본 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5 </a:t>
                      </a: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epoch)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0.8288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0.8217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1156267"/>
                  </a:ext>
                </a:extLst>
              </a:tr>
              <a:tr h="1240972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+ HNP (1 epoch)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0.8050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0.8015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89895"/>
                  </a:ext>
                </a:extLst>
              </a:tr>
              <a:tr h="1240972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+ HNP (+ train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데이터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)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0.8189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0.8133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7637280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7B782A79-D663-4268-9885-AADC90C1F9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323312" y="111968"/>
            <a:ext cx="1893879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21864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BF039F-2415-4E5D-9C3C-43076CDA5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Sonnet Generation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76ED8F-DA38-489C-ACB8-4B5A485481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223" y="1690688"/>
            <a:ext cx="11459425" cy="516731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3200" dirty="0"/>
          </a:p>
          <a:p>
            <a:pPr marL="0" indent="0">
              <a:buNone/>
            </a:pPr>
            <a:r>
              <a:rPr lang="en-US" altLang="ko-KR" sz="3200" dirty="0"/>
              <a:t># </a:t>
            </a:r>
            <a:r>
              <a:rPr lang="en-US" altLang="ko-KR" sz="3200" dirty="0" err="1"/>
              <a:t>BERTScore</a:t>
            </a:r>
            <a:r>
              <a:rPr lang="en-US" altLang="ko-KR" sz="3200" dirty="0"/>
              <a:t>, Perplexity, BLEU…</a:t>
            </a:r>
          </a:p>
          <a:p>
            <a:pPr marL="0" indent="0">
              <a:buNone/>
            </a:pPr>
            <a:r>
              <a:rPr lang="en-US" altLang="ko-KR" sz="3200" dirty="0"/>
              <a:t>-&gt; </a:t>
            </a:r>
            <a:r>
              <a:rPr lang="ko-KR" altLang="en-US" sz="3200" dirty="0"/>
              <a:t>문장이 말이 되는가</a:t>
            </a:r>
            <a:r>
              <a:rPr lang="en-US" altLang="ko-KR" sz="3200" dirty="0"/>
              <a:t>?</a:t>
            </a:r>
            <a:r>
              <a:rPr lang="ko-KR" altLang="en-US" sz="3200" dirty="0"/>
              <a:t>를 평가</a:t>
            </a:r>
            <a:endParaRPr lang="en-US" altLang="ko-KR" sz="3200" dirty="0"/>
          </a:p>
          <a:p>
            <a:pPr marL="0" indent="0">
              <a:buNone/>
            </a:pPr>
            <a:endParaRPr lang="en-US" altLang="ko-KR" sz="3200" dirty="0"/>
          </a:p>
          <a:p>
            <a:pPr marL="0" indent="0">
              <a:buNone/>
            </a:pPr>
            <a:endParaRPr lang="en-US" altLang="ko-KR" sz="3200" dirty="0"/>
          </a:p>
          <a:p>
            <a:pPr marL="0" indent="0">
              <a:buNone/>
            </a:pPr>
            <a:r>
              <a:rPr lang="en-US" altLang="ko-KR" sz="3200" dirty="0">
                <a:solidFill>
                  <a:srgbClr val="FF0000"/>
                </a:solidFill>
              </a:rPr>
              <a:t># Rhyme Accuracy</a:t>
            </a:r>
          </a:p>
          <a:p>
            <a:pPr marL="0" indent="0">
              <a:buNone/>
            </a:pPr>
            <a:r>
              <a:rPr lang="en-US" altLang="ko-KR" sz="3200" dirty="0"/>
              <a:t>-&gt; </a:t>
            </a:r>
            <a:r>
              <a:rPr lang="ko-KR" altLang="en-US" sz="3200" dirty="0"/>
              <a:t>문장이 시답게 형식을 갖추었는가</a:t>
            </a:r>
            <a:r>
              <a:rPr lang="en-US" altLang="ko-KR" sz="3200" dirty="0"/>
              <a:t>?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406387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AD138D-D36B-4352-BDE6-9C7AE2CAC9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-</a:t>
            </a:r>
            <a:r>
              <a:rPr lang="en-US" altLang="ko-KR" dirty="0">
                <a:solidFill>
                  <a:srgbClr val="FF0000"/>
                </a:solidFill>
              </a:rPr>
              <a:t> Rhyme loss </a:t>
            </a:r>
            <a:r>
              <a:rPr lang="ko-KR" altLang="en-US" dirty="0"/>
              <a:t>도입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: </a:t>
            </a:r>
            <a:r>
              <a:rPr lang="ko-KR" altLang="en-US" dirty="0"/>
              <a:t>각 행의 끝 단어 </a:t>
            </a:r>
            <a:r>
              <a:rPr lang="en-US" altLang="ko-KR" dirty="0"/>
              <a:t>embedding </a:t>
            </a:r>
            <a:r>
              <a:rPr lang="ko-KR" altLang="en-US" dirty="0"/>
              <a:t>간의 </a:t>
            </a:r>
            <a:r>
              <a:rPr lang="en-US" altLang="ko-KR" dirty="0"/>
              <a:t>cosine similarity</a:t>
            </a:r>
            <a:r>
              <a:rPr lang="ko-KR" altLang="en-US" dirty="0"/>
              <a:t>를 고려하여</a:t>
            </a:r>
            <a:r>
              <a:rPr lang="en-US" altLang="ko-KR" dirty="0"/>
              <a:t>, </a:t>
            </a:r>
            <a:r>
              <a:rPr lang="ko-KR" altLang="en-US" dirty="0"/>
              <a:t>인접한 행 간 운율</a:t>
            </a:r>
            <a:r>
              <a:rPr lang="en-US" altLang="ko-KR" dirty="0"/>
              <a:t>(rhyme)</a:t>
            </a:r>
            <a:r>
              <a:rPr lang="ko-KR" altLang="en-US" dirty="0"/>
              <a:t>이 맞도록 유도하는 보조 손실 함수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-</a:t>
            </a:r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ko-KR" altLang="en-US" dirty="0">
                <a:solidFill>
                  <a:srgbClr val="FF0000"/>
                </a:solidFill>
              </a:rPr>
              <a:t>후처리</a:t>
            </a:r>
            <a:r>
              <a:rPr lang="ko-KR" altLang="en-US" dirty="0"/>
              <a:t> </a:t>
            </a:r>
            <a:r>
              <a:rPr lang="en-US" altLang="ko-KR" dirty="0"/>
              <a:t>for 14</a:t>
            </a:r>
            <a:r>
              <a:rPr lang="ko-KR" altLang="en-US" dirty="0"/>
              <a:t>행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: </a:t>
            </a:r>
            <a:r>
              <a:rPr lang="ko-KR" altLang="en-US" dirty="0"/>
              <a:t>최대 </a:t>
            </a:r>
            <a:r>
              <a:rPr lang="en-US" altLang="ko-KR" dirty="0"/>
              <a:t>5</a:t>
            </a:r>
            <a:r>
              <a:rPr lang="ko-KR" altLang="en-US" dirty="0"/>
              <a:t>회 재생성을 시도하며</a:t>
            </a:r>
            <a:r>
              <a:rPr lang="en-US" altLang="ko-KR" dirty="0"/>
              <a:t>, </a:t>
            </a:r>
            <a:r>
              <a:rPr lang="ko-KR" altLang="en-US" dirty="0"/>
              <a:t>그 이후에도 기준을 만족하지 않으면 초과 행은 자르고 부족한 경우는 빈 행으로 보완</a:t>
            </a:r>
          </a:p>
        </p:txBody>
      </p:sp>
    </p:spTree>
    <p:extLst>
      <p:ext uri="{BB962C8B-B14F-4D97-AF65-F5344CB8AC3E}">
        <p14:creationId xmlns:p14="http://schemas.microsoft.com/office/powerpoint/2010/main" val="38689986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34BCD086-2C63-41D1-9238-3C4D57F46C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4440922"/>
              </p:ext>
            </p:extLst>
          </p:nvPr>
        </p:nvGraphicFramePr>
        <p:xfrm>
          <a:off x="923543" y="813815"/>
          <a:ext cx="10347836" cy="5204428"/>
        </p:xfrm>
        <a:graphic>
          <a:graphicData uri="http://schemas.openxmlformats.org/drawingml/2006/table">
            <a:tbl>
              <a:tblPr/>
              <a:tblGrid>
                <a:gridCol w="2586959">
                  <a:extLst>
                    <a:ext uri="{9D8B030D-6E8A-4147-A177-3AD203B41FA5}">
                      <a16:colId xmlns:a16="http://schemas.microsoft.com/office/drawing/2014/main" val="2406688648"/>
                    </a:ext>
                  </a:extLst>
                </a:gridCol>
                <a:gridCol w="2586959">
                  <a:extLst>
                    <a:ext uri="{9D8B030D-6E8A-4147-A177-3AD203B41FA5}">
                      <a16:colId xmlns:a16="http://schemas.microsoft.com/office/drawing/2014/main" val="1193537002"/>
                    </a:ext>
                  </a:extLst>
                </a:gridCol>
                <a:gridCol w="2586959">
                  <a:extLst>
                    <a:ext uri="{9D8B030D-6E8A-4147-A177-3AD203B41FA5}">
                      <a16:colId xmlns:a16="http://schemas.microsoft.com/office/drawing/2014/main" val="450827804"/>
                    </a:ext>
                  </a:extLst>
                </a:gridCol>
                <a:gridCol w="2586959">
                  <a:extLst>
                    <a:ext uri="{9D8B030D-6E8A-4147-A177-3AD203B41FA5}">
                      <a16:colId xmlns:a16="http://schemas.microsoft.com/office/drawing/2014/main" val="676878507"/>
                    </a:ext>
                  </a:extLst>
                </a:gridCol>
              </a:tblGrid>
              <a:tr h="130110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구성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BERTScore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Perplexity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Rhyme Accuracy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489349"/>
                  </a:ext>
                </a:extLst>
              </a:tr>
              <a:tr h="130110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기본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0.789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35.68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0.00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5135396"/>
                  </a:ext>
                </a:extLst>
              </a:tr>
              <a:tr h="130110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+ Rhyme Loss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0.785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34.86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0.05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2837213"/>
                  </a:ext>
                </a:extLst>
              </a:tr>
              <a:tr h="130110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+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후처리 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(14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줄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)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0.785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34.15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0.12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1609265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F336F8DB-5EF0-4DE9-A051-16F10F6487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740284" y="0"/>
            <a:ext cx="23679259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07440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8E456B-E452-445E-86DC-3B11B3BC65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0424" y="2877185"/>
            <a:ext cx="6931152" cy="551815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ko-KR" altLang="en-US" sz="8000" dirty="0"/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3072357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</TotalTime>
  <Words>388</Words>
  <Application>Microsoft Office PowerPoint</Application>
  <PresentationFormat>와이드스크린</PresentationFormat>
  <Paragraphs>153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0" baseType="lpstr">
      <vt:lpstr>맑은 고딕</vt:lpstr>
      <vt:lpstr>함초롬바탕</vt:lpstr>
      <vt:lpstr>Arial</vt:lpstr>
      <vt:lpstr>Symbol</vt:lpstr>
      <vt:lpstr>Office 테마</vt:lpstr>
      <vt:lpstr>GPT-2 기반 다중 task처리</vt:lpstr>
      <vt:lpstr>목차</vt:lpstr>
      <vt:lpstr>1. Sentiment Classification</vt:lpstr>
      <vt:lpstr>rephrasing</vt:lpstr>
      <vt:lpstr>Cascade (2단)</vt:lpstr>
      <vt:lpstr>Cascade (3단)</vt:lpstr>
      <vt:lpstr>PowerPoint 프레젠테이션</vt:lpstr>
      <vt:lpstr>2. Paraphrase Detection</vt:lpstr>
      <vt:lpstr>LoRA</vt:lpstr>
      <vt:lpstr>Hard Negative Priority</vt:lpstr>
      <vt:lpstr>PowerPoint 프레젠테이션</vt:lpstr>
      <vt:lpstr>3. Sonnet Generation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GPT-2 기반 다중 task처리</dc:title>
  <dc:creator>USER</dc:creator>
  <cp:lastModifiedBy>USER</cp:lastModifiedBy>
  <cp:revision>12</cp:revision>
  <dcterms:created xsi:type="dcterms:W3CDTF">2025-06-17T02:55:42Z</dcterms:created>
  <dcterms:modified xsi:type="dcterms:W3CDTF">2025-06-18T05:05:55Z</dcterms:modified>
</cp:coreProperties>
</file>